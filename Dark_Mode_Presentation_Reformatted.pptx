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CHATGPT-6 ASTRA: NEXT-GENERATION REAL-TIME AI</a:t>
            </a:r>
          </a:p>
          <a:p>
            <a:pPr>
              <a:spcBef>
                <a:spcPts val="600"/>
              </a:spcBef>
              <a:defRPr sz="1600">
                <a:solidFill>
                  <a:srgbClr val="C4D1EB"/>
                </a:solidFill>
                <a:latin typeface="Segoe UI"/>
              </a:defRPr>
            </a:pPr>
            <a:r>
              <a:t>The Frontier of Universal Multimodal Agency, Neural Architecture &amp; Spatial Reasoning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77440"/>
            <a:ext cx="3328416" cy="39319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606040"/>
            <a:ext cx="287121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F2FE"/>
                </a:solidFill>
                <a:latin typeface="Segoe UI"/>
              </a:defRPr>
            </a:pPr>
            <a:r>
              <a:t>Unified Perception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End-to-end unified multimodal perception across vision, audio, </a:t>
            </a:r>
            <a:r>
              <a:rPr sz="1300" b="1">
                <a:solidFill>
                  <a:srgbClr val="00FF87"/>
                </a:solidFill>
                <a:latin typeface="Segoe UI"/>
              </a:rPr>
              <a:t>spatial kinematics</a:t>
            </a:r>
            <a:r>
              <a:rPr sz="1300">
                <a:solidFill>
                  <a:srgbClr val="C4D1EB"/>
                </a:solidFill>
                <a:latin typeface="Segoe UI"/>
              </a:rPr>
              <a:t>, and code.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Native sensory integration operating directly on raw continuous embeddings without translation loss.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Real-time sensorimotor alignment for </a:t>
            </a:r>
            <a:r>
              <a:rPr sz="1300" b="1">
                <a:solidFill>
                  <a:srgbClr val="00FF87"/>
                </a:solidFill>
                <a:latin typeface="Segoe UI"/>
              </a:rPr>
              <a:t>physical robotics</a:t>
            </a:r>
            <a:r>
              <a:rPr sz="1300">
                <a:solidFill>
                  <a:srgbClr val="C4D1EB"/>
                </a:solidFill>
                <a:latin typeface="Segoe UI"/>
              </a:rPr>
              <a:t> and OS interfaces.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377440"/>
            <a:ext cx="3328416" cy="39319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2606040"/>
            <a:ext cx="287121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9B51E0"/>
                </a:solidFill>
                <a:latin typeface="Segoe UI"/>
              </a:defRPr>
            </a:pPr>
            <a:r>
              <a:t>System 2 Reasoning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Deliberate reasoning with </a:t>
            </a:r>
            <a:r>
              <a:rPr sz="1300" b="1">
                <a:solidFill>
                  <a:srgbClr val="00FF87"/>
                </a:solidFill>
                <a:latin typeface="Segoe UI"/>
              </a:rPr>
              <a:t>dynamic test-time compute</a:t>
            </a:r>
            <a:r>
              <a:rPr sz="1300">
                <a:solidFill>
                  <a:srgbClr val="C4D1EB"/>
                </a:solidFill>
                <a:latin typeface="Segoe UI"/>
              </a:rPr>
              <a:t> scaling based on query entropy.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Neuro-symbolic sandboxing executing sandboxed </a:t>
            </a:r>
            <a:r>
              <a:rPr sz="1300" b="1">
                <a:solidFill>
                  <a:srgbClr val="00FF87"/>
                </a:solidFill>
                <a:latin typeface="Segoe UI"/>
              </a:rPr>
              <a:t>Python</a:t>
            </a:r>
            <a:r>
              <a:rPr sz="1300">
                <a:solidFill>
                  <a:srgbClr val="C4D1EB"/>
                </a:solidFill>
                <a:latin typeface="Segoe UI"/>
              </a:rPr>
              <a:t> and Lean 4 proofs.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Monte Carlo tree verification reducing hallucination by </a:t>
            </a:r>
            <a:r>
              <a:rPr sz="1300" b="1">
                <a:solidFill>
                  <a:srgbClr val="00FF87"/>
                </a:solidFill>
                <a:latin typeface="Segoe UI"/>
              </a:rPr>
              <a:t>92%</a:t>
            </a:r>
            <a:r>
              <a:rPr sz="1300">
                <a:solidFill>
                  <a:srgbClr val="C4D1EB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377440"/>
            <a:ext cx="3328416" cy="39319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2606040"/>
            <a:ext cx="287121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F2FE"/>
                </a:solidFill>
                <a:latin typeface="Segoe UI"/>
              </a:defRPr>
            </a:pPr>
            <a:r>
              <a:t>Real-Time Agency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</a:t>
            </a:r>
            <a:r>
              <a:rPr sz="1300" b="1">
                <a:solidFill>
                  <a:srgbClr val="00FF87"/>
                </a:solidFill>
                <a:latin typeface="Segoe UI"/>
              </a:rPr>
              <a:t>Sub-15ms</a:t>
            </a:r>
            <a:r>
              <a:rPr sz="1300">
                <a:solidFill>
                  <a:srgbClr val="C4D1EB"/>
                </a:solidFill>
                <a:latin typeface="Segoe UI"/>
              </a:rPr>
              <a:t> low-latency multi-agent tool execution for full operating system control.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Virtualized mouse, keyboard, and terminal control with feedback latency </a:t>
            </a:r>
            <a:r>
              <a:rPr sz="1300" b="1">
                <a:solidFill>
                  <a:srgbClr val="00FF87"/>
                </a:solidFill>
                <a:latin typeface="Segoe UI"/>
              </a:rPr>
              <a:t>&lt;20ms</a:t>
            </a:r>
            <a:r>
              <a:rPr sz="1300">
                <a:solidFill>
                  <a:srgbClr val="C4D1EB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Autonomous self-healing workflows with rollback and replay upon failure.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Evolution: The Cognitive Paradigm Shift</a:t>
            </a:r>
          </a:p>
          <a:p>
            <a:pPr>
              <a:spcBef>
                <a:spcPts val="300"/>
              </a:spcBef>
              <a:defRPr sz="1400" b="0">
                <a:solidFill>
                  <a:srgbClr val="C4D1EB"/>
                </a:solidFill>
                <a:latin typeface="Segoe UI"/>
              </a:defRPr>
            </a:pPr>
            <a:r>
              <a:t>From Reactive Language Models to Autonomous Omni-Modal Cognitive Engines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154680" cy="43891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26974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F87"/>
                </a:solidFill>
                <a:latin typeface="Segoe UI"/>
              </a:defRPr>
            </a:pPr>
            <a:r>
              <a:t>GENERATION 1</a:t>
            </a:r>
          </a:p>
          <a:p>
            <a:pPr>
              <a:spcAft>
                <a:spcPts val="1400"/>
              </a:spcAft>
              <a:defRPr sz="2000" b="1">
                <a:solidFill>
                  <a:srgbClr val="C4D1EB"/>
                </a:solidFill>
                <a:latin typeface="Segoe UI"/>
              </a:defRPr>
            </a:pPr>
            <a:r>
              <a:t>Reactive LLMs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Pure text token prediction with frozen weights and static knowledge.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Isolated modalities requiring external wrappers and fragile pipeline bridges.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Linear feed-forward execution with zero test-time compute allocation.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95928" y="3657600"/>
            <a:ext cx="411480" cy="365760"/>
          </a:xfrm>
          <a:prstGeom prst="rightArrow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17136" y="1737360"/>
            <a:ext cx="3154680" cy="43891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45736" y="1965960"/>
            <a:ext cx="26974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F87"/>
                </a:solidFill>
                <a:latin typeface="Segoe UI"/>
              </a:defRPr>
            </a:pPr>
            <a:r>
              <a:t>GENERATION 2</a:t>
            </a:r>
          </a:p>
          <a:p>
            <a:pPr>
              <a:spcAft>
                <a:spcPts val="1400"/>
              </a:spcAft>
              <a:defRPr sz="2000" b="1">
                <a:solidFill>
                  <a:srgbClr val="9B51E0"/>
                </a:solidFill>
                <a:latin typeface="Segoe UI"/>
              </a:defRPr>
            </a:pPr>
            <a:r>
              <a:t>Composite Multimodal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Stitched </a:t>
            </a:r>
            <a:r>
              <a:rPr sz="1300" b="1">
                <a:solidFill>
                  <a:srgbClr val="00FF87"/>
                </a:solidFill>
                <a:latin typeface="Segoe UI"/>
              </a:rPr>
              <a:t>vision</a:t>
            </a:r>
            <a:r>
              <a:rPr sz="1300">
                <a:solidFill>
                  <a:srgbClr val="C4D1EB"/>
                </a:solidFill>
                <a:latin typeface="Segoe UI"/>
              </a:rPr>
              <a:t> and audio encoders with high translation latency.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Heuristic tool invocation bounded by high error propagation rates.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Superficial chain-of-thought without formal mathematical verification.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81544" y="3657600"/>
            <a:ext cx="411480" cy="365760"/>
          </a:xfrm>
          <a:prstGeom prst="rightArrow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2752" y="1737360"/>
            <a:ext cx="3154680" cy="43891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1352" y="1965960"/>
            <a:ext cx="26974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F87"/>
                </a:solidFill>
                <a:latin typeface="Segoe UI"/>
              </a:defRPr>
            </a:pPr>
            <a:r>
              <a:t>GENERATION 3</a:t>
            </a:r>
          </a:p>
          <a:p>
            <a:pPr>
              <a:spcAft>
                <a:spcPts val="1400"/>
              </a:spcAft>
              <a:defRPr sz="2000" b="1">
                <a:solidFill>
                  <a:srgbClr val="00F2FE"/>
                </a:solidFill>
                <a:latin typeface="Segoe UI"/>
              </a:defRPr>
            </a:pPr>
            <a:r>
              <a:t>Astra 6: Omni Agency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Unified Omni-Modal Matrix with zero translation loss via shared latent space.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</a:t>
            </a:r>
            <a:r>
              <a:rPr sz="1300" b="1">
                <a:solidFill>
                  <a:srgbClr val="00FF87"/>
                </a:solidFill>
                <a:latin typeface="Segoe UI"/>
              </a:rPr>
              <a:t>Dynamic test-time compute</a:t>
            </a:r>
            <a:r>
              <a:rPr sz="1300">
                <a:solidFill>
                  <a:srgbClr val="C4D1EB"/>
                </a:solidFill>
                <a:latin typeface="Segoe UI"/>
              </a:rPr>
              <a:t> scaling compute proportional to task complexity.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Self-evolving tool autonomy with formal </a:t>
            </a:r>
            <a:r>
              <a:rPr sz="1300" b="1">
                <a:solidFill>
                  <a:srgbClr val="00FF87"/>
                </a:solidFill>
                <a:latin typeface="Segoe UI"/>
              </a:rPr>
              <a:t>Lean 4</a:t>
            </a:r>
            <a:r>
              <a:rPr sz="1300">
                <a:solidFill>
                  <a:srgbClr val="C4D1EB"/>
                </a:solidFill>
                <a:latin typeface="Segoe UI"/>
              </a:rPr>
              <a:t> proof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Neural Architecture &amp; Omni-Modal Fusion</a:t>
            </a:r>
          </a:p>
          <a:p>
            <a:pPr>
              <a:spcBef>
                <a:spcPts val="300"/>
              </a:spcBef>
              <a:defRPr sz="1400" b="0">
                <a:solidFill>
                  <a:srgbClr val="C4D1EB"/>
                </a:solidFill>
                <a:latin typeface="Segoe UI"/>
              </a:defRPr>
            </a:pPr>
            <a:r>
              <a:t>Native Cross-Attention Transformers &amp; Unified Continuous Embedding Spaces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1887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10512"/>
            <a:ext cx="466344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F2FE"/>
                </a:solidFill>
                <a:latin typeface="Segoe UI"/>
              </a:defRPr>
            </a:pPr>
            <a:r>
              <a:t>Patch-Level Ingestion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Direct RGB, </a:t>
            </a:r>
            <a:r>
              <a:rPr sz="1300" b="1">
                <a:solidFill>
                  <a:srgbClr val="00FF87"/>
                </a:solidFill>
                <a:latin typeface="Segoe UI"/>
              </a:rPr>
              <a:t>spectrogram</a:t>
            </a:r>
            <a:r>
              <a:rPr sz="1300">
                <a:solidFill>
                  <a:srgbClr val="C4D1EB"/>
                </a:solidFill>
                <a:latin typeface="Segoe UI"/>
              </a:rPr>
              <a:t>, and point-cloud tokenization without separate encoders.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120640" cy="11887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810512"/>
            <a:ext cx="466344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9B51E0"/>
                </a:solidFill>
                <a:latin typeface="Segoe UI"/>
              </a:defRPr>
            </a:pPr>
            <a:r>
              <a:t>Sparse MoE Routing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128 dynamic experts activating </a:t>
            </a:r>
            <a:r>
              <a:rPr sz="1300" b="1">
                <a:solidFill>
                  <a:srgbClr val="00FF87"/>
                </a:solidFill>
                <a:latin typeface="Segoe UI"/>
              </a:rPr>
              <a:t>14B active parameters</a:t>
            </a:r>
            <a:r>
              <a:rPr sz="1300">
                <a:solidFill>
                  <a:srgbClr val="C4D1EB"/>
                </a:solidFill>
                <a:latin typeface="Segoe UI"/>
              </a:rPr>
              <a:t> per token from 220B total.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10728655" cy="13716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10712"/>
            <a:ext cx="10271455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F2FE"/>
                </a:solidFill>
                <a:latin typeface="Segoe UI"/>
              </a:defRPr>
            </a:pPr>
            <a:r>
              <a:t>Unified Cross-Modal Attention Engine &amp; Latent Matrix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Continuous KV Cache Optimization: </a:t>
            </a:r>
            <a:r>
              <a:rPr sz="1300" b="1">
                <a:solidFill>
                  <a:srgbClr val="00FF87"/>
                </a:solidFill>
                <a:latin typeface="Segoe UI"/>
              </a:rPr>
              <a:t>Hierarchical memory</a:t>
            </a:r>
            <a:r>
              <a:rPr sz="1300">
                <a:solidFill>
                  <a:srgbClr val="C4D1EB"/>
                </a:solidFill>
                <a:latin typeface="Segoe UI"/>
              </a:rPr>
              <a:t> compression enabling 2M+ context window.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Shared </a:t>
            </a:r>
            <a:r>
              <a:rPr sz="1300" b="1">
                <a:solidFill>
                  <a:srgbClr val="00FF87"/>
                </a:solidFill>
                <a:latin typeface="Segoe UI"/>
              </a:rPr>
              <a:t>continuous latent space</a:t>
            </a:r>
            <a:r>
              <a:rPr sz="1300">
                <a:solidFill>
                  <a:srgbClr val="C4D1EB"/>
                </a:solidFill>
                <a:latin typeface="Segoe UI"/>
              </a:rPr>
              <a:t> for real-time sensorimotor alignment and zero translation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5120640" cy="11887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193792"/>
            <a:ext cx="466344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9B51E0"/>
                </a:solidFill>
                <a:latin typeface="Segoe UI"/>
              </a:defRPr>
            </a:pPr>
            <a:r>
              <a:t>Bimodal Latent Projections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Sensorimotor alignment streaming directly to </a:t>
            </a:r>
            <a:r>
              <a:rPr sz="1300" b="1">
                <a:solidFill>
                  <a:srgbClr val="00FF87"/>
                </a:solidFill>
                <a:latin typeface="Segoe UI"/>
              </a:rPr>
              <a:t>physical robotics</a:t>
            </a:r>
            <a:r>
              <a:rPr sz="1300">
                <a:solidFill>
                  <a:srgbClr val="C4D1EB"/>
                </a:solidFill>
                <a:latin typeface="Segoe UI"/>
              </a:rPr>
              <a:t> and OS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5029200"/>
            <a:ext cx="5120640" cy="11887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8135" y="5193792"/>
            <a:ext cx="466344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F2FE"/>
                </a:solidFill>
                <a:latin typeface="Segoe UI"/>
              </a:defRPr>
            </a:pPr>
            <a:r>
              <a:t>Zero-Trust Alignment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Mathematical </a:t>
            </a:r>
            <a:r>
              <a:rPr sz="1300" b="1">
                <a:solidFill>
                  <a:srgbClr val="00FF87"/>
                </a:solidFill>
                <a:latin typeface="Segoe UI"/>
              </a:rPr>
              <a:t>alignment guarantees</a:t>
            </a:r>
            <a:r>
              <a:rPr sz="1300">
                <a:solidFill>
                  <a:srgbClr val="C4D1EB"/>
                </a:solidFill>
                <a:latin typeface="Segoe UI"/>
              </a:rPr>
              <a:t> with real-time formal verification checks.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834640"/>
            <a:ext cx="36576" cy="4114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2834640"/>
            <a:ext cx="36576" cy="41148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4617720"/>
            <a:ext cx="36576" cy="411480"/>
          </a:xfrm>
          <a:prstGeom prst="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4617720"/>
            <a:ext cx="36576" cy="4114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Multimodal Perception &amp; Spatial Vision</a:t>
            </a:r>
          </a:p>
          <a:p>
            <a:pPr>
              <a:spcBef>
                <a:spcPts val="300"/>
              </a:spcBef>
              <a:defRPr sz="1400" b="0">
                <a:solidFill>
                  <a:srgbClr val="C4D1EB"/>
                </a:solidFill>
                <a:latin typeface="Segoe UI"/>
              </a:defRPr>
            </a:pPr>
            <a:r>
              <a:t>High-Fidelity Visual Grounding and Real-Time Spatio-Temporal Understanding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30368" cy="2194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38528"/>
            <a:ext cx="4773168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F2FE"/>
                </a:solidFill>
                <a:latin typeface="Segoe UI"/>
              </a:defRPr>
            </a:pPr>
            <a:r>
              <a:t>Sub-Pixel Coordinate Precision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3D bounding box detection and native </a:t>
            </a:r>
            <a:r>
              <a:rPr sz="1300" b="1">
                <a:solidFill>
                  <a:srgbClr val="00FF87"/>
                </a:solidFill>
                <a:latin typeface="Segoe UI"/>
              </a:rPr>
              <a:t>UI element segmentation</a:t>
            </a:r>
            <a:r>
              <a:rPr sz="1300">
                <a:solidFill>
                  <a:srgbClr val="C4D1EB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Sub-pixel spatial precision mapping visual landmarks to coordinate spaces.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7064" y="1737360"/>
            <a:ext cx="5230368" cy="2194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55664" y="1938528"/>
            <a:ext cx="4773168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9B51E0"/>
                </a:solidFill>
                <a:latin typeface="Segoe UI"/>
              </a:defRPr>
            </a:pPr>
            <a:r>
              <a:t>Temporal Video Reasoning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60 FPS continuous streaming stream processing with </a:t>
            </a:r>
            <a:r>
              <a:rPr sz="1300" b="1">
                <a:solidFill>
                  <a:srgbClr val="00FF87"/>
                </a:solidFill>
                <a:latin typeface="Segoe UI"/>
              </a:rPr>
              <a:t>zero frame drops</a:t>
            </a:r>
            <a:r>
              <a:rPr sz="1300">
                <a:solidFill>
                  <a:srgbClr val="C4D1EB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Persistent visual memory tracking dynamic occlusions across scene shifts.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5230368" cy="2194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61688"/>
            <a:ext cx="4773168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9B51E0"/>
                </a:solidFill>
                <a:latin typeface="Segoe UI"/>
              </a:defRPr>
            </a:pPr>
            <a:r>
              <a:t>Cross-Modal Coordinate Fusion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Direct synthesis between visual spatial coordinates and </a:t>
            </a:r>
            <a:r>
              <a:rPr sz="1300" b="1">
                <a:solidFill>
                  <a:srgbClr val="00FF87"/>
                </a:solidFill>
                <a:latin typeface="Segoe UI"/>
              </a:rPr>
              <a:t>programmatic action trees</a:t>
            </a:r>
            <a:r>
              <a:rPr sz="1300">
                <a:solidFill>
                  <a:srgbClr val="C4D1EB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Bidirectional projection aligning perceptual fields with tactile actuators.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4160520"/>
            <a:ext cx="5230368" cy="2194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4361688"/>
            <a:ext cx="4773168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F2FE"/>
                </a:solidFill>
                <a:latin typeface="Segoe UI"/>
              </a:defRPr>
            </a:pPr>
            <a:r>
              <a:t>Autonomous UI Grounding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</a:t>
            </a:r>
            <a:r>
              <a:rPr sz="1300" b="1">
                <a:solidFill>
                  <a:srgbClr val="00FF87"/>
                </a:solidFill>
                <a:latin typeface="Segoe UI"/>
              </a:rPr>
              <a:t>Pixel-level element resolution</a:t>
            </a:r>
            <a:r>
              <a:rPr sz="1300">
                <a:solidFill>
                  <a:srgbClr val="C4D1EB"/>
                </a:solidFill>
                <a:latin typeface="Segoe UI"/>
              </a:rPr>
              <a:t> independent of underlying DOM structure.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Zero-shot visual affordance detection across arbitrary desktop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2 Deep Reasoning &amp; Latency Benchmarks</a:t>
            </a:r>
          </a:p>
          <a:p>
            <a:pPr>
              <a:spcBef>
                <a:spcPts val="300"/>
              </a:spcBef>
              <a:defRPr sz="1400" b="0">
                <a:solidFill>
                  <a:srgbClr val="C4D1EB"/>
                </a:solidFill>
                <a:latin typeface="Segoe UI"/>
              </a:defRPr>
            </a:pPr>
            <a:r>
              <a:t>Iterative Search, Monte Carlo Tree Exploration &amp; Sub-Millisecond Response Times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9B51E0"/>
                </a:solidFill>
                <a:latin typeface="Segoe UI"/>
              </a:defRPr>
            </a:pPr>
            <a:r>
              <a:t>System 2 Deep Verification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Monte Carlo tree verification evaluates multi-branch reasoning paths with </a:t>
            </a:r>
            <a:r>
              <a:rPr sz="1300" b="1">
                <a:solidFill>
                  <a:srgbClr val="00FF87"/>
                </a:solidFill>
                <a:latin typeface="Segoe UI"/>
              </a:rPr>
              <a:t>self-critique rubrics</a:t>
            </a:r>
            <a:r>
              <a:rPr sz="1300">
                <a:solidFill>
                  <a:srgbClr val="C4D1EB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Neuro-symbolic sandboxing executes sandboxed </a:t>
            </a:r>
            <a:r>
              <a:rPr sz="1300" b="1">
                <a:solidFill>
                  <a:srgbClr val="00FF87"/>
                </a:solidFill>
                <a:latin typeface="Segoe UI"/>
              </a:rPr>
              <a:t>Python</a:t>
            </a:r>
            <a:r>
              <a:rPr sz="1300">
                <a:solidFill>
                  <a:srgbClr val="C4D1EB"/>
                </a:solidFill>
                <a:latin typeface="Segoe UI"/>
              </a:rPr>
              <a:t> and Lean 4 proofs prior to response generation.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Hallucination attenuation via real-time fact verification against live knowledge graphs reducing error by </a:t>
            </a:r>
            <a:r>
              <a:rPr sz="1300" b="1">
                <a:solidFill>
                  <a:srgbClr val="00FF87"/>
                </a:solidFill>
                <a:latin typeface="Segoe UI"/>
              </a:rPr>
              <a:t>92%</a:t>
            </a:r>
            <a:r>
              <a:rPr sz="1300">
                <a:solidFill>
                  <a:srgbClr val="C4D1EB"/>
                </a:solidFill>
                <a:latin typeface="Segoe U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17336" y="1645920"/>
            <a:ext cx="5340096" cy="45720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5936" y="1874520"/>
            <a:ext cx="488289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F2FE"/>
                </a:solidFill>
                <a:latin typeface="Segoe UI"/>
              </a:defRPr>
            </a:pPr>
            <a:r>
              <a:t>End-to-End Latency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5936" y="2651760"/>
            <a:ext cx="48828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GPT-4V (Legacy Multimodal Pipeline)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5936" y="2999232"/>
            <a:ext cx="4663440" cy="384048"/>
          </a:xfrm>
          <a:prstGeom prst="round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45936" y="2999232"/>
            <a:ext cx="4389120" cy="384048"/>
          </a:xfrm>
          <a:prstGeom prst="roundRect">
            <a:avLst/>
          </a:prstGeom>
          <a:solidFill>
            <a:srgbClr val="3B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72216" y="2999232"/>
            <a:ext cx="201168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C4D1EB"/>
                </a:solidFill>
                <a:latin typeface="Segoe UI"/>
              </a:defRPr>
            </a:pPr>
            <a:r>
              <a:t>1,240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3703320"/>
            <a:ext cx="48828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GPT-4o (Omni Baseline)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4050792"/>
            <a:ext cx="4663440" cy="384048"/>
          </a:xfrm>
          <a:prstGeom prst="round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5936" y="4050792"/>
            <a:ext cx="2377440" cy="384048"/>
          </a:xfrm>
          <a:prstGeom prst="roundRect">
            <a:avLst/>
          </a:prstGeom>
          <a:solidFill>
            <a:srgbClr val="9B5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0536" y="4050792"/>
            <a:ext cx="201168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C4D1EB"/>
                </a:solidFill>
                <a:latin typeface="Segoe UI"/>
              </a:defRPr>
            </a:pPr>
            <a:r>
              <a:t>380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4754880"/>
            <a:ext cx="48828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FF87"/>
                </a:solidFill>
                <a:latin typeface="Segoe UI"/>
              </a:defRPr>
            </a:pPr>
            <a:r>
              <a:t>ChatGPT-6 Astra (Native Low-Latency Engine)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5102352"/>
            <a:ext cx="4663440" cy="384048"/>
          </a:xfrm>
          <a:prstGeom prst="round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5102352"/>
            <a:ext cx="868680" cy="384048"/>
          </a:xfrm>
          <a:prstGeom prst="roundRect">
            <a:avLst/>
          </a:prstGeom>
          <a:solidFill>
            <a:srgbClr val="00F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6" y="5102352"/>
            <a:ext cx="201168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0FF87"/>
                </a:solidFill>
                <a:latin typeface="Segoe UI"/>
              </a:defRPr>
            </a:pPr>
            <a:r>
              <a:t>85 ms  (15x Faster)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Autonomous Agency &amp; Operating System Control</a:t>
            </a:r>
          </a:p>
          <a:p>
            <a:pPr>
              <a:spcBef>
                <a:spcPts val="300"/>
              </a:spcBef>
              <a:defRPr sz="1400" b="0">
                <a:solidFill>
                  <a:srgbClr val="C4D1EB"/>
                </a:solidFill>
                <a:latin typeface="Segoe UI"/>
              </a:defRPr>
            </a:pPr>
            <a:r>
              <a:t>Direct Sub-Millisecond Input Execution, Memory Graphs &amp; Swarm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77440"/>
            <a:ext cx="3328416" cy="39319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606040"/>
            <a:ext cx="287121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2FE"/>
                </a:solidFill>
                <a:latin typeface="Segoe UI"/>
              </a:defRPr>
            </a:pPr>
            <a:r>
              <a:t>Virtual Input &amp; Streaming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Native event streaming with virtualized mouse, keyboard, and terminal control.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Direct operating system feedback loop operating at latency </a:t>
            </a:r>
            <a:r>
              <a:rPr sz="1300" b="1">
                <a:solidFill>
                  <a:srgbClr val="00FF87"/>
                </a:solidFill>
                <a:latin typeface="Segoe UI"/>
              </a:rPr>
              <a:t>&lt;20ms</a:t>
            </a:r>
            <a:r>
              <a:rPr sz="1300">
                <a:solidFill>
                  <a:srgbClr val="C4D1EB"/>
                </a:solidFill>
                <a:latin typeface="Segoe UI"/>
              </a:rPr>
              <a:t>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Sub-pixel interaction precision independent of viewport 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2377440"/>
            <a:ext cx="3328416" cy="39319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2606040"/>
            <a:ext cx="287121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9B51E0"/>
                </a:solidFill>
                <a:latin typeface="Segoe UI"/>
              </a:defRPr>
            </a:pPr>
            <a:r>
              <a:t>Episodic State Graphs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Persistent </a:t>
            </a:r>
            <a:r>
              <a:rPr sz="1300" b="1">
                <a:solidFill>
                  <a:srgbClr val="00FF87"/>
                </a:solidFill>
                <a:latin typeface="Segoe UI"/>
              </a:rPr>
              <a:t>hierarchical memory</a:t>
            </a:r>
            <a:r>
              <a:rPr sz="1300">
                <a:solidFill>
                  <a:srgbClr val="C4D1EB"/>
                </a:solidFill>
                <a:latin typeface="Segoe UI"/>
              </a:rPr>
              <a:t> merging vector stores with graph-structured state graphs.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</a:t>
            </a:r>
            <a:r>
              <a:rPr sz="1300" b="1">
                <a:solidFill>
                  <a:srgbClr val="00FF87"/>
                </a:solidFill>
                <a:latin typeface="Segoe UI"/>
              </a:rPr>
              <a:t>Autonomous rollback</a:t>
            </a:r>
            <a:r>
              <a:rPr sz="1300">
                <a:solidFill>
                  <a:srgbClr val="C4D1EB"/>
                </a:solidFill>
                <a:latin typeface="Segoe UI"/>
              </a:rPr>
              <a:t> and replay mechanisms recovering from unexpected UI disruptions.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Multi-modal trajectory logging for long-horizon task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377440"/>
            <a:ext cx="3328416" cy="39319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2606040"/>
            <a:ext cx="287121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2FE"/>
                </a:solidFill>
                <a:latin typeface="Segoe UI"/>
              </a:defRPr>
            </a:pPr>
            <a:r>
              <a:t>Swarm Orchestration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Multi-agent swarm orchestration spawning asynchronous sub-agents for parallel tasks.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Autonomous web retrieval, tool composition, and data aggregation pipelines.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Continuous task verification ensuring full compliance with system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Benchmark Performance &amp; Evaluation</a:t>
            </a:r>
          </a:p>
          <a:p>
            <a:pPr>
              <a:spcBef>
                <a:spcPts val="300"/>
              </a:spcBef>
              <a:defRPr sz="1400" b="0">
                <a:solidFill>
                  <a:srgbClr val="C4D1EB"/>
                </a:solidFill>
                <a:latin typeface="Segoe UI"/>
              </a:defRPr>
            </a:pPr>
            <a:r>
              <a:t>State-of-the-Art Results Across Reasoning, Coding, and Multimodal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30368" cy="2194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4773168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Segoe UI"/>
              </a:defRPr>
            </a:pPr>
            <a:r>
              <a:t>Reasoning: GPQA &amp; MMLU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00FF87"/>
                </a:solidFill>
                <a:latin typeface="Segoe UI"/>
              </a:rPr>
              <a:t>89.4% </a:t>
            </a:r>
            <a:r>
              <a:rPr sz="1200">
                <a:solidFill>
                  <a:srgbClr val="C4D1EB"/>
                </a:solidFill>
                <a:latin typeface="Segoe UI"/>
              </a:rPr>
              <a:t>(Zero-Shot Accuracy)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Outperforms all frontier baselines across GPQA Diamond and MMLU-Pro.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Demonstrates verified multi-step mathematical proofs without hallucination.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7064" y="1737360"/>
            <a:ext cx="5230368" cy="2194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55664" y="1920240"/>
            <a:ext cx="4773168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9B51E0"/>
                </a:solidFill>
                <a:latin typeface="Segoe UI"/>
              </a:defRPr>
            </a:pPr>
            <a:r>
              <a:t>Coding: SWE-Bench Verified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00FF87"/>
                </a:solidFill>
                <a:latin typeface="Segoe UI"/>
              </a:rPr>
              <a:t>64.8% </a:t>
            </a:r>
            <a:r>
              <a:rPr sz="1200">
                <a:solidFill>
                  <a:srgbClr val="C4D1EB"/>
                </a:solidFill>
                <a:latin typeface="Segoe UI"/>
              </a:rPr>
              <a:t>(Issue Resolution Rate)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Autonomous issue resolution across multi-repo software engineering </a:t>
            </a:r>
            <a:r>
              <a:rPr sz="1300" b="1">
                <a:solidFill>
                  <a:srgbClr val="00FF87"/>
                </a:solidFill>
                <a:latin typeface="Segoe UI"/>
              </a:rPr>
              <a:t>code</a:t>
            </a:r>
            <a:r>
              <a:rPr sz="1300">
                <a:solidFill>
                  <a:srgbClr val="C4D1EB"/>
                </a:solidFill>
                <a:latin typeface="Segoe UI"/>
              </a:rPr>
              <a:t>bases.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Zero-shot automated patch synthesis and regression test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5230368" cy="2194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43400"/>
            <a:ext cx="4773168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9B51E0"/>
                </a:solidFill>
                <a:latin typeface="Segoe UI"/>
              </a:defRPr>
            </a:pPr>
            <a:r>
              <a:t>Agency: OSWorld &amp; WebArena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00FF87"/>
                </a:solidFill>
                <a:latin typeface="Segoe UI"/>
              </a:rPr>
              <a:t>71.2% </a:t>
            </a:r>
            <a:r>
              <a:rPr sz="1200">
                <a:solidFill>
                  <a:srgbClr val="C4D1EB"/>
                </a:solidFill>
                <a:latin typeface="Segoe UI"/>
              </a:rPr>
              <a:t>(Full Task Completion)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Sets new state-of-the-art across complex end-to-end OS navigation benchmarks.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Sub-millisecond visual grounding without DOM dependency.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4160520"/>
            <a:ext cx="5230368" cy="2194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4343400"/>
            <a:ext cx="4773168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Segoe UI"/>
              </a:defRPr>
            </a:pPr>
            <a:r>
              <a:t>Throughput &amp; TTFT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00FF87"/>
                </a:solidFill>
                <a:latin typeface="Segoe UI"/>
              </a:rPr>
              <a:t>4.2x </a:t>
            </a:r>
            <a:r>
              <a:rPr sz="1200">
                <a:solidFill>
                  <a:srgbClr val="C4D1EB"/>
                </a:solidFill>
                <a:latin typeface="Segoe UI"/>
              </a:rPr>
              <a:t>(Higher Throughput)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</a:t>
            </a:r>
            <a:r>
              <a:rPr sz="1300" b="1">
                <a:solidFill>
                  <a:srgbClr val="00FF87"/>
                </a:solidFill>
                <a:latin typeface="Segoe UI"/>
              </a:rPr>
              <a:t>65% reduction</a:t>
            </a:r>
            <a:r>
              <a:rPr sz="1300">
                <a:solidFill>
                  <a:srgbClr val="C4D1EB"/>
                </a:solidFill>
                <a:latin typeface="Segoe UI"/>
              </a:rPr>
              <a:t> in time-to-first-token with dynamic KV cache pruning.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Linear throughput scaling across concurrent high-density inference streams.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Safety, Alignment &amp; Strategic Roadmap</a:t>
            </a:r>
          </a:p>
          <a:p>
            <a:pPr>
              <a:spcBef>
                <a:spcPts val="300"/>
              </a:spcBef>
              <a:defRPr sz="1400" b="0">
                <a:solidFill>
                  <a:srgbClr val="C4D1EB"/>
                </a:solidFill>
                <a:latin typeface="Segoe UI"/>
              </a:defRPr>
            </a:pPr>
            <a:r>
              <a:t>Constitutional Guardrails, Robustness Guarantees, and Future Deployment Horizons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2487168" cy="43891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938528"/>
            <a:ext cx="208483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F87"/>
                </a:solidFill>
                <a:latin typeface="Segoe UI"/>
              </a:defRPr>
            </a:pPr>
            <a:r>
              <a:t>PHASE 01 • ALIGNMENT</a:t>
            </a:r>
          </a:p>
          <a:p>
            <a:pPr>
              <a:spcAft>
                <a:spcPts val="1200"/>
              </a:spcAft>
              <a:defRPr sz="1700" b="1">
                <a:solidFill>
                  <a:srgbClr val="00F2FE"/>
                </a:solidFill>
                <a:latin typeface="Segoe UI"/>
              </a:defRPr>
            </a:pPr>
            <a:r>
              <a:t>Constitutional Red-Teaming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Automated </a:t>
            </a:r>
            <a:r>
              <a:rPr sz="1300" b="1">
                <a:solidFill>
                  <a:srgbClr val="00FF87"/>
                </a:solidFill>
                <a:latin typeface="Segoe UI"/>
              </a:rPr>
              <a:t>adversarial stress-testing</a:t>
            </a:r>
            <a:r>
              <a:rPr sz="1300">
                <a:solidFill>
                  <a:srgbClr val="C4D1EB"/>
                </a:solidFill>
                <a:latin typeface="Segoe UI"/>
              </a:rPr>
              <a:t> across multimodal attack vectors.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Self-patching reward models for real-time safety steering.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Formal mathematical safety constraints embedded in loss function.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737360"/>
            <a:ext cx="2487168" cy="43891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5888" y="1938528"/>
            <a:ext cx="208483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F87"/>
                </a:solidFill>
                <a:latin typeface="Segoe UI"/>
              </a:defRPr>
            </a:pPr>
            <a:r>
              <a:t>PHASE 02 • ENTERPRISE</a:t>
            </a:r>
          </a:p>
          <a:p>
            <a:pPr>
              <a:spcAft>
                <a:spcPts val="1200"/>
              </a:spcAft>
              <a:defRPr sz="1700" b="1">
                <a:solidFill>
                  <a:srgbClr val="9B51E0"/>
                </a:solidFill>
                <a:latin typeface="Segoe UI"/>
              </a:defRPr>
            </a:pPr>
            <a:r>
              <a:t>Privacy &amp; Zero Retention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Differential privacy preserving confidential workspace context.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</a:t>
            </a:r>
            <a:r>
              <a:rPr sz="1300" b="1">
                <a:solidFill>
                  <a:srgbClr val="00FF87"/>
                </a:solidFill>
                <a:latin typeface="Segoe UI"/>
              </a:rPr>
              <a:t>Zero Data Retention</a:t>
            </a:r>
            <a:r>
              <a:rPr sz="1300">
                <a:solidFill>
                  <a:srgbClr val="C4D1EB"/>
                </a:solidFill>
                <a:latin typeface="Segoe UI"/>
              </a:rPr>
              <a:t> guarantee for strict enterprise compliance.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Cryptographically verified tamper-proof audit trails.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487168" cy="43891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938528"/>
            <a:ext cx="208483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F87"/>
                </a:solidFill>
                <a:latin typeface="Segoe UI"/>
              </a:defRPr>
            </a:pPr>
            <a:r>
              <a:t>PHASE 03 • PHASE 1</a:t>
            </a:r>
          </a:p>
          <a:p>
            <a:pPr>
              <a:spcAft>
                <a:spcPts val="1200"/>
              </a:spcAft>
              <a:defRPr sz="1700" b="1">
                <a:solidFill>
                  <a:srgbClr val="00F2FE"/>
                </a:solidFill>
                <a:latin typeface="Segoe UI"/>
              </a:defRPr>
            </a:pPr>
            <a:r>
              <a:t>Real-Time OS Agents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Broad deployment of low-latency desktop and cloud browser assistants.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</a:t>
            </a:r>
            <a:r>
              <a:rPr sz="1300" b="1">
                <a:solidFill>
                  <a:srgbClr val="00FF87"/>
                </a:solidFill>
                <a:latin typeface="Segoe UI"/>
              </a:rPr>
              <a:t>Sub-15ms</a:t>
            </a:r>
            <a:r>
              <a:rPr sz="1300">
                <a:solidFill>
                  <a:srgbClr val="C4D1EB"/>
                </a:solidFill>
                <a:latin typeface="Segoe UI"/>
              </a:rPr>
              <a:t> multi-agent coordination across production tools.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Autonomous workflow compilation for complex developer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737360"/>
            <a:ext cx="2487168" cy="438912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62288" y="1938528"/>
            <a:ext cx="208483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FF87"/>
                </a:solidFill>
                <a:latin typeface="Segoe UI"/>
              </a:defRPr>
            </a:pPr>
            <a:r>
              <a:t>PHASE 04 • PHASE 2</a:t>
            </a:r>
          </a:p>
          <a:p>
            <a:pPr>
              <a:spcAft>
                <a:spcPts val="1200"/>
              </a:spcAft>
              <a:defRPr sz="1700" b="1">
                <a:solidFill>
                  <a:srgbClr val="00FF87"/>
                </a:solidFill>
                <a:latin typeface="Segoe UI"/>
              </a:defRPr>
            </a:pPr>
            <a:r>
              <a:t>Embodied Physical AI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C4D1EB"/>
                </a:solidFill>
                <a:latin typeface="Segoe UI"/>
              </a:rPr>
              <a:t>•  Zero-shot transfer from digital OS control to robotic edge platforms.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</a:t>
            </a:r>
            <a:r>
              <a:rPr sz="1300" b="1">
                <a:solidFill>
                  <a:srgbClr val="00FF87"/>
                </a:solidFill>
                <a:latin typeface="Segoe UI"/>
              </a:rPr>
              <a:t>Spatial kinematics</a:t>
            </a:r>
            <a:r>
              <a:rPr sz="1300">
                <a:solidFill>
                  <a:srgbClr val="C4D1EB"/>
                </a:solidFill>
                <a:latin typeface="Segoe UI"/>
              </a:rPr>
              <a:t> and real-time tactile sensorimotor execution.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C4D1EB"/>
                </a:solidFill>
                <a:latin typeface="Segoe UI"/>
              </a:rPr>
              <a:t>•  Universal cognitive foundation for general robotic agency.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