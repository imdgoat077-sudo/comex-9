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340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</a:defRPr>
            </a:pPr>
            <a:r>
              <a:t>NEXT-GENERATION FRONTIER INTELLIGENCE</a:t>
            </a:r>
          </a:p>
          <a:p>
            <a:pPr>
              <a:spcBef>
                <a:spcPts val="1000"/>
              </a:spcBef>
              <a:defRPr sz="4400" b="1">
                <a:solidFill>
                  <a:srgbClr val="F1F5F9"/>
                </a:solidFill>
              </a:defRPr>
            </a:pPr>
            <a:r>
              <a:t>ChatGPT-6 Astra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Autonomous Multi-Agent Synthesis, Real-time World-State Grounding &amp; Quantum-Ready Inference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GPT-6 ASTRA ARCHITECTURE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ChatGPT-6 Astra: Core Architecture Pillars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20624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FF"/>
                </a:solidFill>
              </a:defRPr>
            </a:pPr>
            <a:r>
              <a:t>1. Astra Neural Fabric</a:t>
            </a:r>
          </a:p>
          <a:p>
            <a:pPr>
              <a:spcBef>
                <a:spcPts val="1400"/>
              </a:spcBef>
              <a:defRPr sz="1400">
                <a:solidFill>
                  <a:srgbClr val="F1F5F9"/>
                </a:solidFill>
              </a:defRPr>
            </a:pPr>
            <a:r>
              <a:t>100M+ Sparse MoE routing with ultra-low latency sub-millisecond reasoning layers.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420624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10312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855F7"/>
                </a:solidFill>
              </a:defRPr>
            </a:pPr>
            <a:r>
              <a:t>2. Realtime Grounding</a:t>
            </a:r>
          </a:p>
          <a:p>
            <a:pPr>
              <a:spcBef>
                <a:spcPts val="1400"/>
              </a:spcBef>
              <a:defRPr sz="1400">
                <a:solidFill>
                  <a:srgbClr val="F1F5F9"/>
                </a:solidFill>
              </a:defRPr>
            </a:pPr>
            <a:r>
              <a:t>Continuous web-environment state sync with active verification pipelines.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83280" cy="420624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10312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3. Zero-Loss Reasoning</a:t>
            </a:r>
          </a:p>
          <a:p>
            <a:pPr>
              <a:spcBef>
                <a:spcPts val="1400"/>
              </a:spcBef>
              <a:defRPr sz="1400">
                <a:solidFill>
                  <a:srgbClr val="F1F5F9"/>
                </a:solidFill>
              </a:defRPr>
            </a:pPr>
            <a:r>
              <a:t>MCTS-driven test-time compute scaling ensuring provable logical consistency.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GPT-6 ASTRA ARCHITECTURE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Performance Benchmarks &amp; System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486400" cy="4206240"/>
          </a:xfrm>
          <a:prstGeom prst="rect">
            <a:avLst/>
          </a:prstGeom>
          <a:solidFill>
            <a:srgbClr val="161E31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855F7"/>
                </a:solidFill>
              </a:defRPr>
            </a:pPr>
            <a:r>
              <a:t>End-to-End System Pipeline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[Input Vector] -&gt; Multimodal Tokenizer (Vision/Text/Audio)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[Routing Layer] -&gt; Dynamic MoE Gate (Top-k Dispatch)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[Inference Engine] -&gt; Speculative MCTS Search Tree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[Execution Core] -&gt; Sandboxed Tool &amp; Browser Execution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[Output Synthesis] -&gt; Hallucination Filter &amp; Final Response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828800"/>
            <a:ext cx="4937760" cy="4206240"/>
          </a:xfrm>
          <a:prstGeom prst="rect">
            <a:avLst/>
          </a:prstGeom>
          <a:solidFill>
            <a:srgbClr val="161E31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210312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FF"/>
                </a:solidFill>
              </a:defRPr>
            </a:pPr>
            <a:r>
              <a:t>Astra Key Performance Indicators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</a:defRPr>
            </a:pPr>
            <a:r>
              <a:t>• Context Window: 10,000,000 Tokens (100% Recall)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</a:defRPr>
            </a:pPr>
            <a:r>
              <a:t>• Inference Speed: 340 Tokens / Sec (Ultra Fast)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</a:defRPr>
            </a:pPr>
            <a:r>
              <a:t>• Reasoning Accuracy: 98.4% on FrontierMath &amp; GPQA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</a:defRPr>
            </a:pPr>
            <a:r>
              <a:t>• Tool Autonomy: 99.1% Multi-step Agent Success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